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7"/>
    <p:sldId id="262" r:id="rId8"/>
    <p:sldId id="264" r:id="rId10"/>
    <p:sldId id="265" r:id="rId11"/>
    <p:sldId id="266" r:id="rId12"/>
    <p:sldId id="267" r:id="rId13"/>
    <p:sldId id="268" r:id="rId14"/>
    <p:sldId id="269" r:id="rId15"/>
    <p:sldId id="273" r:id="rId19"/>
    <p:sldId id="275" r:id="rId26"/>
    <p:sldId id="276" r:id="rId27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  <Relationship Id="rId26" Type="http://schemas.openxmlformats.org/officeDocument/2006/relationships/slide" Target="slides/slide20.xml"/>
  <Relationship Id="rId27" Type="http://schemas.openxmlformats.org/officeDocument/2006/relationships/slide" Target="slides/slide21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[ENTER IN CHARACTER — straight back, salute the audience.]
Comrades. Esteemed delegates of the Goatmire Soviet of Elixir Enthusiasts.
I bring greetings from the Central Committee of Schedulers.
[Pause. Survey the room slowly. Deadpan.]
Today we discuss a glorious achievement of the People: we got Communist Nerves... before GTA 6. (lol.)
[Tap the title. Pause for the laugh.]
Time check: this is slide 1 of ~19 in 20 minutes. Move on within ~45s.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[Point at the title. Look concerned. Almost mournful.]
Comrades... the camera has no GPU.
[Beat.]
It is a loyal camera. Built by the People. But its silicon is humble.
[Drop accent slightly — quick technical aside.]
Real talk: this is the use case. Nerves device on the edge needs to do inference. It can't. Some other node — maybe a beefy tower in the corner of the construction site — can. We want one line of Elixir to make that happen.
[Back into character.]
ONE LINE. No Kubernetes. No AWS. No DevOps Politburo. Only the mesh.
Time: ~60s on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[Gesture at the diagram disapprovingly.]
Behold. The Old Regime. The Cloud Kulak Command Economy.
[Trace the flow downward, slowly.]
At the top: the Cloud Politburo. Beneath it: the Orchestrator, with its forty-seven YAML files. Beneath THAT: the ministries. Auth. Service Discovery. Observability — the Bureau That Watches.
[Point to bottom row.]
And here, in the field — our comrades — fill out form 27-B and wait for permission to do compute.
[Drop accent: real talk.]
This is real. Most edge architectures still assume a stable cloud control plane. On a construction site, you don't have one. We need a different shape.
Time: ~90s.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[Slow it down. This is the technical thesis.]
[Drop the accent for most of this slide. Sahil-the-engineer voice.]
Most 'edge mesh' work is service discovery — find a thing by name, talk HTTP. That throws away half of what makes BEAM special: links, monitors, supervisors, the fact that processes are first-class.
We want capability-based execution. Not 'find a service' — but 'run this lambda on any node that has these capabilities.' OTP semantics travel with the call.
[Pop back into character for the close.]
We do not seek a service. We seek a comrade who can DO. There is a difference.
Time: ~90s.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[Walk left to right with the steps. One sentence per box.]
1. ADVERTISE — every node tells the mesh what it has.
2. DISCOVER — peers find each other via mDNS locally, DHT/rendezvous globally, gossip in between.
3. ROUTE — when a capability is requested, the mesh matches it to a comrade.
4. EXECUTE — Network.spawn ships the function over.
5. RETURN — and crucially, your monitors and links survive the hop.
[Land the punchline.]
We call it 'Our Compute.' Like BitTorrent, but for BEAM. Like CDN, but for capabilities.
Time: ~80s.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[Walk through the map, gestural — tap each node.]
Five comrades. CAM-01 has the camera. GPU-04 has the tower. RELAY-A is bridging BLE and WebRTC. SENSOR-09 has the air-quality probe. ARCHIVE has the storage.
[Drop accent for the technical bit.]
Note the dashed line: CAM-01 cannot talk to GPU-04 directly because of NAT. So we route through RELAY-A. Each edge has its own transport. The mesh is sparse — not everyone connects to everyone — and that's intentional, because we don't have the bandwidth for a full mesh.
[Back in character.]
Below: the CRDT registry. Every comrade knows what every comrade can do. There is no central directory. There is only... us.
Time: ~100s.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[Hold up index finger like a stern bureaucrat.]
You do not pick the comrade, comrade. The Ministry picks. You only state the need.
[Drop accent.]
Real version: capability matching is the easy part. The selection function is the interesting part. We score by liveness, load, locality, transport cost, affinity. And yes, we have an override — sometimes you really do need to pin.
[Back in character, point at 'Politburo override'.]
Note: even in a flat society, sometimes the Politburo just decides.
Time: ~80s.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[Speed up — this is dense.]
[Mostly out of character — this is the credibility slide.]
Goal: Node.spawn, :rpc.call, :rpc.cast, monitors, links — they just work. If you've written distributed Elixir, you've already written this.
Caveats are real: latency is honest (BLE is BLE), and you can't ship a 4GB tensor over Bluetooth no matter how revolutionary your spirit. mTLS replaces cookies. Net splits are normal — your supervision tree must expect them.
[One in-character beat at the end:]
Workers of the world — spawn.
Time: ~75s.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[Hold up the slide like a personnel folder.]
We did not build a scheduler from scratch. We hired a comrade. His name is Horde.
[Drop accent — credit where due.]
Horde gives us a distributed supervisor and registry over delta-CRDTs. We keep that. What we patch: the transport layer — Horde assumes libcluster; we want it transport-agnostic. And we plug in our own DistributionStrategy that picks nodes by capability, not by hash.
[In-character close.]
Comrade Horde does the work of the Politburo. We just tell him what we need.
Time: ~75s.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[Lean in like you're sharing forbidden knowledge.]
NAT, comrades, is landlordism for packets. It charges rent on the address space and lets nothing in without permission.
[Drop accent.]
Discovery side: mDNS for the same LAN, DHT or rendezvous for wide-area, gossip for membership liveness. Transport side: real BEAM dist if we can, WebRTC with STUN/TURN if we can't, BLE for that comrade in the basement.
Key idea: a single message may traverse three different transports. Partisan-style sparse mesh — we don't need every node to talk to every node.
Time: ~85s.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[If demo runs live: skip into the boards. Show, don't tell.]
[If demo does NOT run: stay on this slide and narrate the storyboard. The crowd will be in on the joke.]
Walk the four panels:
01 Boot — boards advertise capabilities.
02 Frame — camera spawns.
03 Route — Ministry picks GPU-04, route via relay because NAT.
04 Run — inference returns, monitors fire cleanly.
[If failure: deadpan.]
It appears we are experiencing a partition. The revolution continues.
Time: ~60-90s depending on whether you go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[Land both feet. Salute. Drop salute.]
Confiscate the means of inference, comrades.
[Pause.]
[Drop the accent fully. Sahil voice.]
Real talk to close: the communist framing is satire. The distributed-systems work is real. I'm patching Horde to be transport-agnostic, layering capability-based scheduling on top of CRDT-replicated registries, and wiring it onto Nerves hardware in the field.
Also — and this is important — I still need a job.
[Wait for laugh.]
If anyone here is hiring distributed-systems engineers, or wants to collaborate on Communist Nerves, I'd love to talk. Find me at the after-party. I'll be the one in the hat.
Thank you, comrades.
[Salute. Hold. Walk off.]
Time: ~60s. Buffer for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Evercam" Type="http://schemas.openxmlformats.org/officeDocument/2006/relationships/image" Target="../media/evercam_white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hyperlink" Target="https://sessionize.com/s/sahil-pohare/we-got-communist-nerves-before-gta-6-lol/169126" TargetMode="External"/><Relationship Id="rId2" Type="http://schemas.openxmlformats.org/officeDocument/2006/relationships/hyperlink" Target="https://2025.goatmire.com" TargetMode="External"/><Relationship Id="rId3" Type="http://schemas.openxmlformats.org/officeDocument/2006/relationships/hyperlink" Target="https://alembic.com.au/blog/goatmire-nervesconf-2025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Relationship Id="rIdEvercam" Type="http://schemas.openxmlformats.org/officeDocument/2006/relationships/image" Target="../media/evercam_white.pn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ShotA" Type="http://schemas.openxmlformats.org/officeDocument/2006/relationships/image" Target="../media/shot_openmolt.jpg"/><Relationship Id="rIdShotB" Type="http://schemas.openxmlformats.org/officeDocument/2006/relationships/image" Target="../media/shot_pingerchips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600000">
            <a:off x="-914400" y="-914400"/>
            <a:ext cx="7315200" cy="457200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3" name="Shape 1"/>
          <p:cNvSpPr/>
          <p:nvPr/>
        </p:nvSpPr>
        <p:spPr>
          <a:xfrm>
            <a:off x="7985455" y="1463040"/>
            <a:ext cx="3291840" cy="3291840"/>
          </a:xfrm>
          <a:prstGeom prst="ellipse">
            <a:avLst/>
          </a:prstGeom>
          <a:solidFill>
            <a:srgbClr val="8B1E1E"/>
          </a:solidFill>
          <a:ln w="50800">
            <a:solidFill>
              <a:srgbClr val="C8A2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68335" y="1645920"/>
            <a:ext cx="2926080" cy="2926080"/>
          </a:xfrm>
          <a:prstGeom prst="ellipse">
            <a:avLst/>
          </a:prstGeom>
          <a:ln w="12700">
            <a:solidFill>
              <a:srgbClr val="C8A2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85455" y="1463040"/>
            <a:ext cx="3291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★</a:t>
            </a:r>
            <a:endParaRPr lang="en-US" sz="20000" dirty="0"/>
          </a:p>
        </p:txBody>
      </p:sp>
      <p:sp>
        <p:nvSpPr>
          <p:cNvPr id="6" name="Text 4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OFFICIAL BRIEFING — COMMITTEE OF DISTRIBUTED AFFAIRS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GOT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COMMUNIST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NERVES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548640" y="3840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 GTA 6 lol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452628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4EC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"From each according to capability, to each according to need."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49377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8A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UNLESS timeout: 5000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440680"/>
            <a:ext cx="6858000" cy="914400"/>
          </a:xfrm>
          <a:prstGeom prst="rect">
            <a:avLst/>
          </a:prstGeom>
          <a:solidFill>
            <a:srgbClr val="F4ECD8"/>
          </a:solidFill>
          <a:ln w="25400">
            <a:solidFill>
              <a:srgbClr val="C8A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5486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COMRADE GENERAL  SAHIL POHARE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58521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Senior Officer, People's Compute  ·  GOATMIRE / NervesConf EU 2025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rot="-600000">
            <a:off x="9082735" y="5349240"/>
            <a:ext cx="2651760" cy="777240"/>
          </a:xfrm>
          <a:prstGeom prst="rect">
            <a:avLst/>
          </a:prstGeom>
          <a:ln w="38100">
            <a:solidFill>
              <a:srgbClr val="A5232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-600000">
            <a:off x="9128455" y="5394960"/>
            <a:ext cx="2560320" cy="685800"/>
          </a:xfrm>
          <a:prstGeom prst="rect">
            <a:avLst/>
          </a:prstGeom>
          <a:ln w="12700">
            <a:solidFill>
              <a:srgbClr val="A523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 rot="-600000">
            <a:off x="9082735" y="53492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A523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SECRET</a:t>
            </a:r>
            <a:endParaRPr lang="en-US" sz="1400" dirty="0"/>
          </a:p>
        </p:txBody>
      </p:sp>
      <p:sp>
        <p:nvSpPr>
          <p:cNvPr id="900" name="Sponsor Label"/>
          <p:cNvSpPr txBox="1"/>
          <p:nvPr/>
        </p:nvSpPr>
        <p:spPr>
          <a:xfrm>
            <a:off x="8531352" y="411480"/>
            <a:ext cx="27432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b="1" spc="500" kern="0" dirty="0">
                <a:solidFill>
                  <a:srgbClr val="C8A23A"/>
                </a:solidFill>
                <a:latin typeface="Arial Black" pitchFamily="34" charset="0"/>
              </a:rPr>
              <a:t>SPONSORED BY</a:t>
            </a:r>
          </a:p>
        </p:txBody>
      </p:sp>
      <p:pic>
        <p:nvPicPr>
          <p:cNvPr id="901" name="Evercam Logo" descr="Evercam"/>
          <p:cNvPicPr>
            <a:picLocks noChangeAspect="1"/>
          </p:cNvPicPr>
          <p:nvPr/>
        </p:nvPicPr>
        <p:blipFill>
          <a:blip r:embed="rIdEvercam"/>
          <a:stretch>
            <a:fillRect/>
          </a:stretch>
        </p:blipFill>
        <p:spPr>
          <a:xfrm>
            <a:off x="9184495" y="713232"/>
            <a:ext cx="2090057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FIELD REPORT 001  //  COMRADES, A SITUATION HAS DEVELOPED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991295" y="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CLASSIFIED // EYES ONLY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191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8368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PEOPLE'S COMPUTE  //  GOATMIRE / NERVESCONF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05695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No. 02 /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COMRADES, THE CAMERA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HAS NO GPU.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548640" y="2423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E2A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is a small camera. A loyal camera. A Nerves camera.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2788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E2A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But it cannot, in good conscience, run YOLOv8 on its own.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11064240" cy="1508760"/>
          </a:xfrm>
          <a:prstGeom prst="rect">
            <a:avLst/>
          </a:prstGeom>
          <a:solidFill>
            <a:srgbClr val="1B1916"/>
          </a:solidFill>
          <a:ln w="12700">
            <a:solidFill>
              <a:srgbClr val="C8A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383280"/>
            <a:ext cx="11064240" cy="164592"/>
          </a:xfrm>
          <a:prstGeom prst="rect">
            <a:avLst/>
          </a:prstGeom>
          <a:solidFill>
            <a:srgbClr val="2E2A2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83280"/>
            <a:ext cx="10881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A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terminal — comrade@people.compute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361188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Network.spawn([gpu: true], {Vision, :infer, [frame]})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" y="5074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LINE. NO SERVERS. NO ORCHESTRATORS. NO CLOUD. NO YAML.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5532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Somewhere in the mesh, a comrade has a GPU. We will find them.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 rot="-480000">
            <a:off x="9174175" y="640080"/>
            <a:ext cx="2651760" cy="777240"/>
          </a:xfrm>
          <a:prstGeom prst="rect">
            <a:avLst/>
          </a:prstGeom>
          <a:ln w="38100">
            <a:solidFill>
              <a:srgbClr val="A5232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-480000">
            <a:off x="9219895" y="685800"/>
            <a:ext cx="2560320" cy="685800"/>
          </a:xfrm>
          <a:prstGeom prst="rect">
            <a:avLst/>
          </a:prstGeom>
          <a:ln w="12700">
            <a:solidFill>
              <a:srgbClr val="A523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 rot="-480000">
            <a:off x="9174175" y="6400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A523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URGENT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HISTORICAL REVIEW  //  THE OLD REGIME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991295" y="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CLASSIFIED // EYES ONLY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191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8368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PEOPLE'S COMPUTE  //  GOATMIRE / NERVESCONF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05695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No. 03 /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5029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OLD REGIME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10058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Cloud Kulak Command Economy.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13716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ministry. Many forms. The peasants wait.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1828800"/>
            <a:ext cx="3017520" cy="640080"/>
          </a:xfrm>
          <a:prstGeom prst="rect">
            <a:avLst/>
          </a:prstGeom>
          <a:solidFill>
            <a:srgbClr val="8B1E1E"/>
          </a:solidFill>
          <a:ln w="19050">
            <a:solidFill>
              <a:srgbClr val="1B19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8288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CLOUD POLITBURO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931920" y="2743200"/>
            <a:ext cx="4297680" cy="548640"/>
          </a:xfrm>
          <a:prstGeom prst="rect">
            <a:avLst/>
          </a:prstGeom>
          <a:solidFill>
            <a:srgbClr val="5C0F0F"/>
          </a:solidFill>
          <a:ln w="19050">
            <a:solidFill>
              <a:srgbClr val="1B19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274320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ORCHESTRATOR — 47 YAML FILES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371600" y="3566160"/>
            <a:ext cx="2103120" cy="457200"/>
          </a:xfrm>
          <a:prstGeom prst="rect">
            <a:avLst/>
          </a:prstGeom>
          <a:solidFill>
            <a:srgbClr val="2E2A23"/>
          </a:solidFill>
          <a:ln w="12700">
            <a:solidFill>
              <a:srgbClr val="1B19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3566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GATEWAY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0" y="3566160"/>
            <a:ext cx="2103120" cy="457200"/>
          </a:xfrm>
          <a:prstGeom prst="rect">
            <a:avLst/>
          </a:prstGeom>
          <a:solidFill>
            <a:srgbClr val="2E2A23"/>
          </a:solidFill>
          <a:ln w="12700">
            <a:solidFill>
              <a:srgbClr val="1B19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3566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AUTH MINISTRY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3566160"/>
            <a:ext cx="2103120" cy="457200"/>
          </a:xfrm>
          <a:prstGeom prst="rect">
            <a:avLst/>
          </a:prstGeom>
          <a:solidFill>
            <a:srgbClr val="2E2A23"/>
          </a:solidFill>
          <a:ln w="12700">
            <a:solidFill>
              <a:srgbClr val="1B19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3566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SERVICE DISCOVERY DEPT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686800" y="3566160"/>
            <a:ext cx="2103120" cy="457200"/>
          </a:xfrm>
          <a:prstGeom prst="rect">
            <a:avLst/>
          </a:prstGeom>
          <a:solidFill>
            <a:srgbClr val="2E2A23"/>
          </a:solidFill>
          <a:ln w="12700">
            <a:solidFill>
              <a:srgbClr val="1B19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566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OBSERVABILITY BUREAU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80760" y="2468880"/>
            <a:ext cx="0" cy="274320"/>
          </a:xfrm>
          <a:prstGeom prst="line">
            <a:avLst/>
          </a:prstGeom>
          <a:noFill/>
          <a:ln w="25400">
            <a:solidFill>
              <a:srgbClr val="8B1E1E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423160" y="3291840"/>
            <a:ext cx="0" cy="274320"/>
          </a:xfrm>
          <a:prstGeom prst="line">
            <a:avLst/>
          </a:prstGeom>
          <a:noFill/>
          <a:ln w="25400">
            <a:solidFill>
              <a:srgbClr val="8B1E1E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709160" y="3291840"/>
            <a:ext cx="0" cy="274320"/>
          </a:xfrm>
          <a:prstGeom prst="line">
            <a:avLst/>
          </a:prstGeom>
          <a:noFill/>
          <a:ln w="25400">
            <a:solidFill>
              <a:srgbClr val="8B1E1E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995160" y="3291840"/>
            <a:ext cx="0" cy="274320"/>
          </a:xfrm>
          <a:prstGeom prst="line">
            <a:avLst/>
          </a:prstGeom>
          <a:noFill/>
          <a:ln w="25400">
            <a:solidFill>
              <a:srgbClr val="8B1E1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738360" y="3291840"/>
            <a:ext cx="0" cy="274320"/>
          </a:xfrm>
          <a:prstGeom prst="line">
            <a:avLst/>
          </a:prstGeom>
          <a:noFill/>
          <a:ln w="25400">
            <a:solidFill>
              <a:srgbClr val="8B1E1E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548640" y="4160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FIELD —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103120" y="4160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waiting for permission to do compute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4526280"/>
            <a:ext cx="1234440" cy="868680"/>
          </a:xfrm>
          <a:prstGeom prst="rect">
            <a:avLst/>
          </a:prstGeom>
          <a:solidFill>
            <a:srgbClr val="EFE6CE"/>
          </a:solidFill>
          <a:ln w="15240">
            <a:solidFill>
              <a:srgbClr val="1B19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5720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nerves-01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" y="48463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waiting...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" y="512064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(form 27-B)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057400" y="4526280"/>
            <a:ext cx="1234440" cy="868680"/>
          </a:xfrm>
          <a:prstGeom prst="rect">
            <a:avLst/>
          </a:prstGeom>
          <a:solidFill>
            <a:srgbClr val="EFE6CE"/>
          </a:solidFill>
          <a:ln w="15240">
            <a:solidFill>
              <a:srgbClr val="1B19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57400" y="45720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nerves-02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057400" y="48463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waiting...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057400" y="512064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(form 27-B)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474720" y="4526280"/>
            <a:ext cx="1234440" cy="868680"/>
          </a:xfrm>
          <a:prstGeom prst="rect">
            <a:avLst/>
          </a:prstGeom>
          <a:solidFill>
            <a:srgbClr val="EFE6CE"/>
          </a:solidFill>
          <a:ln w="15240">
            <a:solidFill>
              <a:srgbClr val="1B19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0" y="45720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nerves-03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474720" y="48463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waiting...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474720" y="512064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(form 27-B)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892040" y="4526280"/>
            <a:ext cx="1234440" cy="868680"/>
          </a:xfrm>
          <a:prstGeom prst="rect">
            <a:avLst/>
          </a:prstGeom>
          <a:solidFill>
            <a:srgbClr val="EFE6CE"/>
          </a:solidFill>
          <a:ln w="15240">
            <a:solidFill>
              <a:srgbClr val="1B19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45720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nerves-04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92040" y="48463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waiting...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92040" y="512064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(form 27-B)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309360" y="4526280"/>
            <a:ext cx="1234440" cy="868680"/>
          </a:xfrm>
          <a:prstGeom prst="rect">
            <a:avLst/>
          </a:prstGeom>
          <a:solidFill>
            <a:srgbClr val="EFE6CE"/>
          </a:solidFill>
          <a:ln w="15240">
            <a:solidFill>
              <a:srgbClr val="1B191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9360" y="45720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nerves-05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309360" y="48463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waiting...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309360" y="512064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(form 27-B)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726680" y="4526280"/>
            <a:ext cx="1234440" cy="868680"/>
          </a:xfrm>
          <a:prstGeom prst="rect">
            <a:avLst/>
          </a:prstGeom>
          <a:solidFill>
            <a:srgbClr val="EFE6CE"/>
          </a:solidFill>
          <a:ln w="15240">
            <a:solidFill>
              <a:srgbClr val="1B191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26680" y="45720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nerves-06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726680" y="48463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waiting...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726680" y="512064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(form 27-B)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9144000" y="4526280"/>
            <a:ext cx="1234440" cy="868680"/>
          </a:xfrm>
          <a:prstGeom prst="rect">
            <a:avLst/>
          </a:prstGeom>
          <a:solidFill>
            <a:srgbClr val="EFE6CE"/>
          </a:solidFill>
          <a:ln w="15240">
            <a:solidFill>
              <a:srgbClr val="1B191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144000" y="45720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nerves-07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9144000" y="48463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waiting...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144000" y="512064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(form 27-B)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0561320" y="4526280"/>
            <a:ext cx="1234440" cy="868680"/>
          </a:xfrm>
          <a:prstGeom prst="rect">
            <a:avLst/>
          </a:prstGeom>
          <a:solidFill>
            <a:srgbClr val="EFE6CE"/>
          </a:solidFill>
          <a:ln w="15240">
            <a:solidFill>
              <a:srgbClr val="1B191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561320" y="45720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nerves-08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0561320" y="48463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waiting...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0561320" y="512064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(form 27-B)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Kubernetes is when you abolish servers by creating 47 more YAML files.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 rot="-480000">
            <a:off x="9082735" y="822960"/>
            <a:ext cx="2651760" cy="777240"/>
          </a:xfrm>
          <a:prstGeom prst="rect">
            <a:avLst/>
          </a:prstGeom>
          <a:ln w="38100">
            <a:solidFill>
              <a:srgbClr val="A5232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-480000">
            <a:off x="9128455" y="868680"/>
            <a:ext cx="2560320" cy="685800"/>
          </a:xfrm>
          <a:prstGeom prst="rect">
            <a:avLst/>
          </a:prstGeom>
          <a:ln w="12700">
            <a:solidFill>
              <a:srgbClr val="A5232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 rot="-480000">
            <a:off x="9082735" y="8229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A523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COUNTER-REV.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DOCTRINE  //  WHAT IS NEW HERE, COMRADE?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991295" y="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CLASSIFIED // EYES ONLY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191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8368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PEOPLE'S COMPUTE  //  GOATMIRE / NERVESCONF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05695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No. 04 /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DIALECTICAL MATERIALISM OF DISTRIBUTED SYSTEMS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1109441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 service discovery. OTP, redistributed.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Capability-based execution with native BEAM semantics — not mDNS with extra steps.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468880"/>
            <a:ext cx="5257800" cy="3931920"/>
          </a:xfrm>
          <a:prstGeom prst="rect">
            <a:avLst/>
          </a:prstGeom>
          <a:solidFill>
            <a:srgbClr val="EFE6CE"/>
          </a:solidFill>
          <a:ln w="12700">
            <a:solidFill>
              <a:srgbClr val="6E66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468880"/>
            <a:ext cx="5257800" cy="457200"/>
          </a:xfrm>
          <a:prstGeom prst="rect">
            <a:avLst/>
          </a:prstGeom>
          <a:solidFill>
            <a:srgbClr val="2E2A2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46888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OLD WAY — SERVICE DISCOVERY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108960"/>
            <a:ext cx="4892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'Find me a service named gpu-worker'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HTTP / gRPC. JSON over the wire.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Sidecars. Service mesh. TLS. More YAML.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Lose: links, monitors, supervisors,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selective receive — half of OTP.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Capability is a string. Hope it's right.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55080" y="2468880"/>
            <a:ext cx="5257800" cy="3931920"/>
          </a:xfrm>
          <a:prstGeom prst="rect">
            <a:avLst/>
          </a:prstGeom>
          <a:solidFill>
            <a:srgbClr val="EFE6CE"/>
          </a:solidFill>
          <a:ln w="25400">
            <a:solidFill>
              <a:srgbClr val="8B1E1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2468880"/>
            <a:ext cx="5257800" cy="45720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246888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PEOPLE'S WAY — CAPABILITY EXECUTION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37960" y="3108960"/>
            <a:ext cx="4892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'Run THIS function on a node with gpu: true'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Native :rpc / Node.spawn semantics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Links + monitors + supervisors travel with you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Capabilities are structured: [gpu: 128, ram: 512]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CRDT-replicated registry of who-has-what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The mesh decides. You wrote one line.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OPERATIONAL SKETCH  //  HOW THE PEOPLE'S COMPUTE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991295" y="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CLASSIFIED // EYES ONLY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191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8368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PEOPLE'S COMPUTE  //  GOATMIRE / NERVESCONF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05695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No. 05 /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ADVERTISE  &gt;  DISCOVER  &gt;  ROUTE  &gt;  EXECUTE  &gt;  RETURN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verbs. No central authority. Yes — that is the joke and it is also the architecture.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2148840" cy="2743200"/>
          </a:xfrm>
          <a:prstGeom prst="rect">
            <a:avLst/>
          </a:prstGeom>
          <a:solidFill>
            <a:srgbClr val="EFE6CE"/>
          </a:solidFill>
          <a:ln w="19050">
            <a:solidFill>
              <a:srgbClr val="8B1E1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828800"/>
            <a:ext cx="2148840" cy="45720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8288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ADVERTISE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377440"/>
            <a:ext cx="1874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Network.advertise(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[gpu: 128,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storage: 512])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703320"/>
            <a:ext cx="1783080" cy="13716"/>
          </a:xfrm>
          <a:prstGeom prst="rect">
            <a:avLst/>
          </a:prstGeom>
          <a:solidFill>
            <a:srgbClr val="B7A98B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79476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Tell the mesh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have.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rot="5400000">
            <a:off x="2679192" y="3063240"/>
            <a:ext cx="292608" cy="274320"/>
          </a:xfrm>
          <a:prstGeom prst="triangle">
            <a:avLst/>
          </a:prstGeom>
          <a:solidFill>
            <a:srgbClr val="8B1E1E"/>
          </a:solidFill>
          <a:ln/>
        </p:spPr>
      </p:sp>
      <p:sp>
        <p:nvSpPr>
          <p:cNvPr id="17" name="Shape 15"/>
          <p:cNvSpPr/>
          <p:nvPr/>
        </p:nvSpPr>
        <p:spPr>
          <a:xfrm>
            <a:off x="2880360" y="1828800"/>
            <a:ext cx="2148840" cy="2743200"/>
          </a:xfrm>
          <a:prstGeom prst="rect">
            <a:avLst/>
          </a:prstGeom>
          <a:solidFill>
            <a:srgbClr val="EFE6CE"/>
          </a:solidFill>
          <a:ln w="19050">
            <a:solidFill>
              <a:srgbClr val="8B1E1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80360" y="1828800"/>
            <a:ext cx="2148840" cy="45720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19" name="Text 17"/>
          <p:cNvSpPr/>
          <p:nvPr/>
        </p:nvSpPr>
        <p:spPr>
          <a:xfrm>
            <a:off x="2971800" y="18288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DISCOVER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17520" y="2377440"/>
            <a:ext cx="1874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mDNS / DHT 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Rendezvous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libp2p gossip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063240" y="3703320"/>
            <a:ext cx="1783080" cy="13716"/>
          </a:xfrm>
          <a:prstGeom prst="rect">
            <a:avLst/>
          </a:prstGeom>
          <a:solidFill>
            <a:srgbClr val="B7A98B"/>
          </a:solidFill>
          <a:ln/>
        </p:spPr>
      </p:sp>
      <p:sp>
        <p:nvSpPr>
          <p:cNvPr id="22" name="Text 20"/>
          <p:cNvSpPr/>
          <p:nvPr/>
        </p:nvSpPr>
        <p:spPr>
          <a:xfrm>
            <a:off x="3017520" y="379476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 peers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locally + globally.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 rot="5400000">
            <a:off x="5010912" y="3063240"/>
            <a:ext cx="292608" cy="274320"/>
          </a:xfrm>
          <a:prstGeom prst="triangle">
            <a:avLst/>
          </a:prstGeom>
          <a:solidFill>
            <a:srgbClr val="8B1E1E"/>
          </a:solidFill>
          <a:ln/>
        </p:spPr>
      </p:sp>
      <p:sp>
        <p:nvSpPr>
          <p:cNvPr id="24" name="Shape 22"/>
          <p:cNvSpPr/>
          <p:nvPr/>
        </p:nvSpPr>
        <p:spPr>
          <a:xfrm>
            <a:off x="5212080" y="1828800"/>
            <a:ext cx="2148840" cy="2743200"/>
          </a:xfrm>
          <a:prstGeom prst="rect">
            <a:avLst/>
          </a:prstGeom>
          <a:solidFill>
            <a:srgbClr val="EFE6CE"/>
          </a:solidFill>
          <a:ln w="19050">
            <a:solidFill>
              <a:srgbClr val="8B1E1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12080" y="1828800"/>
            <a:ext cx="2148840" cy="45720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0" y="18288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 ROUTE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49240" y="2377440"/>
            <a:ext cx="1874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capability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pick comrade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(code hash, load)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94960" y="3703320"/>
            <a:ext cx="1783080" cy="13716"/>
          </a:xfrm>
          <a:prstGeom prst="rect">
            <a:avLst/>
          </a:prstGeom>
          <a:solidFill>
            <a:srgbClr val="B7A98B"/>
          </a:solidFill>
          <a:ln/>
        </p:spPr>
      </p:sp>
      <p:sp>
        <p:nvSpPr>
          <p:cNvPr id="29" name="Text 27"/>
          <p:cNvSpPr/>
          <p:nvPr/>
        </p:nvSpPr>
        <p:spPr>
          <a:xfrm>
            <a:off x="5349240" y="379476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 capability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a comrade.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 rot="5400000">
            <a:off x="7342632" y="3063240"/>
            <a:ext cx="292608" cy="274320"/>
          </a:xfrm>
          <a:prstGeom prst="triangle">
            <a:avLst/>
          </a:prstGeom>
          <a:solidFill>
            <a:srgbClr val="8B1E1E"/>
          </a:solidFill>
          <a:ln/>
        </p:spPr>
      </p:sp>
      <p:sp>
        <p:nvSpPr>
          <p:cNvPr id="31" name="Shape 29"/>
          <p:cNvSpPr/>
          <p:nvPr/>
        </p:nvSpPr>
        <p:spPr>
          <a:xfrm>
            <a:off x="7543800" y="1828800"/>
            <a:ext cx="2148840" cy="2743200"/>
          </a:xfrm>
          <a:prstGeom prst="rect">
            <a:avLst/>
          </a:prstGeom>
          <a:solidFill>
            <a:srgbClr val="EFE6CE"/>
          </a:solidFill>
          <a:ln w="19050">
            <a:solidFill>
              <a:srgbClr val="8B1E1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43800" y="1828800"/>
            <a:ext cx="2148840" cy="45720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33" name="Text 31"/>
          <p:cNvSpPr/>
          <p:nvPr/>
        </p:nvSpPr>
        <p:spPr>
          <a:xfrm>
            <a:off x="7635240" y="18288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 EXECUTE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80960" y="2377440"/>
            <a:ext cx="1874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Network.spawn(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[gpu: true],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{Mod, :fun, args})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726680" y="3703320"/>
            <a:ext cx="1783080" cy="13716"/>
          </a:xfrm>
          <a:prstGeom prst="rect">
            <a:avLst/>
          </a:prstGeom>
          <a:solidFill>
            <a:srgbClr val="B7A98B"/>
          </a:solidFill>
          <a:ln/>
        </p:spPr>
      </p:sp>
      <p:sp>
        <p:nvSpPr>
          <p:cNvPr id="36" name="Text 34"/>
          <p:cNvSpPr/>
          <p:nvPr/>
        </p:nvSpPr>
        <p:spPr>
          <a:xfrm>
            <a:off x="7680960" y="379476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 the MFA.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OTP rides along.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 rot="5400000">
            <a:off x="9674352" y="3063240"/>
            <a:ext cx="292608" cy="274320"/>
          </a:xfrm>
          <a:prstGeom prst="triangle">
            <a:avLst/>
          </a:prstGeom>
          <a:solidFill>
            <a:srgbClr val="8B1E1E"/>
          </a:solidFill>
          <a:ln/>
        </p:spPr>
      </p:sp>
      <p:sp>
        <p:nvSpPr>
          <p:cNvPr id="38" name="Shape 36"/>
          <p:cNvSpPr/>
          <p:nvPr/>
        </p:nvSpPr>
        <p:spPr>
          <a:xfrm>
            <a:off x="9875520" y="1828800"/>
            <a:ext cx="2148840" cy="2743200"/>
          </a:xfrm>
          <a:prstGeom prst="rect">
            <a:avLst/>
          </a:prstGeom>
          <a:solidFill>
            <a:srgbClr val="EFE6CE"/>
          </a:solidFill>
          <a:ln w="19050">
            <a:solidFill>
              <a:srgbClr val="8B1E1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875520" y="1828800"/>
            <a:ext cx="2148840" cy="45720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40" name="Text 38"/>
          <p:cNvSpPr/>
          <p:nvPr/>
        </p:nvSpPr>
        <p:spPr>
          <a:xfrm>
            <a:off x="9966960" y="18288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 RETURN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012680" y="2377440"/>
            <a:ext cx="1874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| {:exit, _}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monitors, links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 along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0058400" y="3703320"/>
            <a:ext cx="1783080" cy="13716"/>
          </a:xfrm>
          <a:prstGeom prst="rect">
            <a:avLst/>
          </a:prstGeom>
          <a:solidFill>
            <a:srgbClr val="B7A98B"/>
          </a:solidFill>
          <a:ln/>
        </p:spPr>
      </p:sp>
      <p:sp>
        <p:nvSpPr>
          <p:cNvPr id="43" name="Text 41"/>
          <p:cNvSpPr/>
          <p:nvPr/>
        </p:nvSpPr>
        <p:spPr>
          <a:xfrm>
            <a:off x="10012680" y="379476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 returns.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Links survive.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4846320"/>
            <a:ext cx="11064240" cy="1280160"/>
          </a:xfrm>
          <a:prstGeom prst="rect">
            <a:avLst/>
          </a:prstGeom>
          <a:solidFill>
            <a:srgbClr val="1B1916"/>
          </a:solidFill>
          <a:ln w="12700">
            <a:solidFill>
              <a:srgbClr val="C8A2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49834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600" kern="0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"OUR COMPUTE"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731520" y="5486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4EC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BitTorrent for BEAM. Capability-aware. Monitor-friendly. No coordinator.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STRATEGIC MAP  //  THE PEOPLE'S COMPUTE MESH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991295" y="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CLASSIFIED // EYES ONLY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191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8368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PEOPLE'S COMPUTE  //  GOATMIRE / NERVESCONF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05695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No. 06 /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594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SPARSE MESH, DENSE IDEOLOGY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comrades. No king. Three transports. Two relays. One CRDT.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25980" y="3177540"/>
            <a:ext cx="2377440" cy="1097280"/>
          </a:xfrm>
          <a:prstGeom prst="line">
            <a:avLst/>
          </a:prstGeom>
          <a:noFill/>
          <a:ln w="19050">
            <a:solidFill>
              <a:srgbClr val="1B191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74620" y="3653028"/>
            <a:ext cx="1280160" cy="237744"/>
          </a:xfrm>
          <a:prstGeom prst="rect">
            <a:avLst/>
          </a:prstGeom>
          <a:solidFill>
            <a:srgbClr val="F4ECD8"/>
          </a:solidFill>
          <a:ln/>
        </p:spPr>
      </p:sp>
      <p:sp>
        <p:nvSpPr>
          <p:cNvPr id="12" name="Text 10"/>
          <p:cNvSpPr/>
          <p:nvPr/>
        </p:nvSpPr>
        <p:spPr>
          <a:xfrm>
            <a:off x="2674620" y="365302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 flipV="1">
            <a:off x="4503420" y="2263140"/>
            <a:ext cx="2103120" cy="2011680"/>
          </a:xfrm>
          <a:prstGeom prst="line">
            <a:avLst/>
          </a:prstGeom>
          <a:noFill/>
          <a:ln w="19050">
            <a:solidFill>
              <a:srgbClr val="1B19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14900" y="3104388"/>
            <a:ext cx="1280160" cy="237744"/>
          </a:xfrm>
          <a:prstGeom prst="rect">
            <a:avLst/>
          </a:prstGeom>
          <a:solidFill>
            <a:srgbClr val="F4ECD8"/>
          </a:solidFill>
          <a:ln/>
        </p:spPr>
      </p:sp>
      <p:sp>
        <p:nvSpPr>
          <p:cNvPr id="15" name="Text 13"/>
          <p:cNvSpPr/>
          <p:nvPr/>
        </p:nvSpPr>
        <p:spPr>
          <a:xfrm>
            <a:off x="4914900" y="310438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WebRTC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 flipV="1">
            <a:off x="2125980" y="2263140"/>
            <a:ext cx="4480560" cy="914400"/>
          </a:xfrm>
          <a:prstGeom prst="line">
            <a:avLst/>
          </a:prstGeom>
          <a:noFill/>
          <a:ln w="19050">
            <a:solidFill>
              <a:srgbClr val="1B191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726180" y="2235708"/>
            <a:ext cx="1280160" cy="237744"/>
          </a:xfrm>
          <a:prstGeom prst="rect">
            <a:avLst/>
          </a:prstGeom>
          <a:solidFill>
            <a:srgbClr val="F4ECD8"/>
          </a:solidFill>
          <a:ln/>
        </p:spPr>
      </p:sp>
      <p:sp>
        <p:nvSpPr>
          <p:cNvPr id="18" name="Text 16"/>
          <p:cNvSpPr/>
          <p:nvPr/>
        </p:nvSpPr>
        <p:spPr>
          <a:xfrm>
            <a:off x="3726180" y="223570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 direct)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06540" y="2263140"/>
            <a:ext cx="4572000" cy="457200"/>
          </a:xfrm>
          <a:prstGeom prst="line">
            <a:avLst/>
          </a:prstGeom>
          <a:noFill/>
          <a:ln w="19050">
            <a:solidFill>
              <a:srgbClr val="1B19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52460" y="2327148"/>
            <a:ext cx="1280160" cy="237744"/>
          </a:xfrm>
          <a:prstGeom prst="rect">
            <a:avLst/>
          </a:prstGeom>
          <a:solidFill>
            <a:srgbClr val="F4ECD8"/>
          </a:solidFill>
          <a:ln/>
        </p:spPr>
      </p:sp>
      <p:sp>
        <p:nvSpPr>
          <p:cNvPr id="21" name="Text 19"/>
          <p:cNvSpPr/>
          <p:nvPr/>
        </p:nvSpPr>
        <p:spPr>
          <a:xfrm>
            <a:off x="8252460" y="232714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BEAM/dist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03420" y="4274820"/>
            <a:ext cx="5029200" cy="0"/>
          </a:xfrm>
          <a:prstGeom prst="line">
            <a:avLst/>
          </a:prstGeom>
          <a:noFill/>
          <a:ln w="19050">
            <a:solidFill>
              <a:srgbClr val="1B191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77940" y="4201668"/>
            <a:ext cx="1280160" cy="237744"/>
          </a:xfrm>
          <a:prstGeom prst="rect">
            <a:avLst/>
          </a:prstGeom>
          <a:solidFill>
            <a:srgbClr val="F4ECD8"/>
          </a:solidFill>
          <a:ln/>
        </p:spPr>
      </p:sp>
      <p:sp>
        <p:nvSpPr>
          <p:cNvPr id="24" name="Text 22"/>
          <p:cNvSpPr/>
          <p:nvPr/>
        </p:nvSpPr>
        <p:spPr>
          <a:xfrm>
            <a:off x="6377940" y="420166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gossip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 flipV="1">
            <a:off x="9532620" y="2720340"/>
            <a:ext cx="1645920" cy="1554480"/>
          </a:xfrm>
          <a:prstGeom prst="line">
            <a:avLst/>
          </a:prstGeom>
          <a:noFill/>
          <a:ln w="19050">
            <a:solidFill>
              <a:srgbClr val="1B191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15500" y="3332988"/>
            <a:ext cx="1280160" cy="237744"/>
          </a:xfrm>
          <a:prstGeom prst="rect">
            <a:avLst/>
          </a:prstGeom>
          <a:solidFill>
            <a:srgbClr val="F4ECD8"/>
          </a:solidFill>
          <a:ln/>
        </p:spPr>
      </p:sp>
      <p:sp>
        <p:nvSpPr>
          <p:cNvPr id="27" name="Text 25"/>
          <p:cNvSpPr/>
          <p:nvPr/>
        </p:nvSpPr>
        <p:spPr>
          <a:xfrm>
            <a:off x="9715500" y="333298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WebRTC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280160" y="2743200"/>
            <a:ext cx="1691640" cy="868680"/>
          </a:xfrm>
          <a:prstGeom prst="rect">
            <a:avLst/>
          </a:prstGeom>
          <a:solidFill>
            <a:srgbClr val="EFE6CE"/>
          </a:solidFill>
          <a:ln w="25400">
            <a:solidFill>
              <a:srgbClr val="8B1E1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80160" y="27889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CAM-01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80160" y="31546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Camera (no GPU)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760720" y="1828800"/>
            <a:ext cx="1691640" cy="868680"/>
          </a:xfrm>
          <a:prstGeom prst="rect">
            <a:avLst/>
          </a:prstGeom>
          <a:solidFill>
            <a:srgbClr val="C8A23A"/>
          </a:solidFill>
          <a:ln w="25400">
            <a:solidFill>
              <a:srgbClr val="1B19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0" y="18745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GPU-04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760720" y="22402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Tower (GPU 128)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0" y="3840480"/>
            <a:ext cx="1691640" cy="868680"/>
          </a:xfrm>
          <a:prstGeom prst="rect">
            <a:avLst/>
          </a:prstGeom>
          <a:solidFill>
            <a:srgbClr val="EFE6CE"/>
          </a:solidFill>
          <a:ln w="25400">
            <a:solidFill>
              <a:srgbClr val="2E2A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0" y="38862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RELAY-A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657600" y="425196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Relay (BLE / WebRTC)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686800" y="3840480"/>
            <a:ext cx="1691640" cy="868680"/>
          </a:xfrm>
          <a:prstGeom prst="rect">
            <a:avLst/>
          </a:prstGeom>
          <a:solidFill>
            <a:srgbClr val="EFE6CE"/>
          </a:solidFill>
          <a:ln w="25400">
            <a:solidFill>
              <a:srgbClr val="8B1E1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86800" y="38862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SENSOR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686800" y="425196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BME680 + LoRa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332720" y="2286000"/>
            <a:ext cx="1691640" cy="868680"/>
          </a:xfrm>
          <a:prstGeom prst="rect">
            <a:avLst/>
          </a:prstGeom>
          <a:solidFill>
            <a:srgbClr val="EFE6CE"/>
          </a:solidFill>
          <a:ln w="25400">
            <a:solidFill>
              <a:srgbClr val="2E2A2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332720" y="23317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ARCHIVE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332720" y="26974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 512G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8640" y="5212080"/>
            <a:ext cx="6400800" cy="1051560"/>
          </a:xfrm>
          <a:prstGeom prst="rect">
            <a:avLst/>
          </a:prstGeom>
          <a:solidFill>
            <a:srgbClr val="1B1916"/>
          </a:solidFill>
          <a:ln w="12700">
            <a:solidFill>
              <a:srgbClr val="C8A23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5230368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CRDT REGISTRY (replicated to all comrades)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" y="5486400"/>
            <a:ext cx="6217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GPU-04   =&gt; [gpu: 128, ram: 16384, role: :worker]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ARCHIVE  =&gt; [storage: 512, role: :archive]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RELAY-A  =&gt; [transport: [:ble, :webrtc], role: :relay]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178040" y="5212080"/>
            <a:ext cx="4434840" cy="1051560"/>
          </a:xfrm>
          <a:prstGeom prst="rect">
            <a:avLst/>
          </a:prstGeom>
          <a:solidFill>
            <a:srgbClr val="EFE6CE"/>
          </a:solidFill>
          <a:ln w="12700">
            <a:solidFill>
              <a:srgbClr val="6E66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69480" y="5230368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LEGEND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269480" y="5486400"/>
            <a:ext cx="4251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■ gold node = capability provider (GPU)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── solid line = active transport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┄ dashed line = blocked by NAT (use relay)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MINISTRY OF ROUTING  //  CAPABILITY -&gt; NODE SELECTION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991295" y="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CLASSIFIED // EYES ONLY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191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8368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PEOPLE'S COMPUTE  //  GOATMIRE / NERVESCONF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05695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No. 07 /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MINISTRY OF ROUTING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"You request the work; the Ministry assigns the comrade."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5852160" cy="4206240"/>
          </a:xfrm>
          <a:prstGeom prst="rect">
            <a:avLst/>
          </a:prstGeom>
          <a:solidFill>
            <a:srgbClr val="1B1916"/>
          </a:solidFill>
          <a:ln w="12700">
            <a:solidFill>
              <a:srgbClr val="C8A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828800"/>
            <a:ext cx="5852160" cy="164592"/>
          </a:xfrm>
          <a:prstGeom prst="rect">
            <a:avLst/>
          </a:prstGeom>
          <a:solidFill>
            <a:srgbClr val="2E2A2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828800"/>
            <a:ext cx="5669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A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terminal — comrade@people.compute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057400"/>
            <a:ext cx="548640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Network.spawn(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[gpu: true, ram: &gt;= 8192],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{Vision, :infer, [frame]},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prefer: [near: :self, low_load: true],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timeout: 5000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behind the curtain: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candidates 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Registry.match([gpu: true, ram: {:gte, 8192}])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candidates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|&gt; filter_alive()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|&gt; sort_by(&amp;score(&amp;1, prefer))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|&gt; List.first()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Node.spawn_link(best, Vision, :infer, [frame])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66560" y="1828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SCORING — IDEOLOGICALLY CORRECT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2139696"/>
            <a:ext cx="4846320" cy="18288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16" name="Shape 14"/>
          <p:cNvSpPr/>
          <p:nvPr/>
        </p:nvSpPr>
        <p:spPr>
          <a:xfrm>
            <a:off x="6766560" y="2331720"/>
            <a:ext cx="4846320" cy="457200"/>
          </a:xfrm>
          <a:prstGeom prst="rect">
            <a:avLst/>
          </a:prstGeom>
          <a:solidFill>
            <a:srgbClr val="F4ECD8"/>
          </a:solidFill>
          <a:ln w="6350">
            <a:solidFill>
              <a:srgbClr val="B7A9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2331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Capability match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098280" y="2331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exact / range / set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2834640"/>
            <a:ext cx="4846320" cy="457200"/>
          </a:xfrm>
          <a:prstGeom prst="rect">
            <a:avLst/>
          </a:prstGeom>
          <a:solidFill>
            <a:srgbClr val="EFE6CE"/>
          </a:solidFill>
          <a:ln w="6350">
            <a:solidFill>
              <a:srgbClr val="B7A9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2834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Liveness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98280" y="2834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heartbeat &lt; 2s ago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66560" y="3337560"/>
            <a:ext cx="4846320" cy="457200"/>
          </a:xfrm>
          <a:prstGeom prst="rect">
            <a:avLst/>
          </a:prstGeom>
          <a:solidFill>
            <a:srgbClr val="F4ECD8"/>
          </a:solidFill>
          <a:ln w="6350">
            <a:solidFill>
              <a:srgbClr val="B7A9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3337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Load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098280" y="3337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lower is better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66560" y="3840480"/>
            <a:ext cx="4846320" cy="457200"/>
          </a:xfrm>
          <a:prstGeom prst="rect">
            <a:avLst/>
          </a:prstGeom>
          <a:solidFill>
            <a:srgbClr val="EFE6CE"/>
          </a:solidFill>
          <a:ln w="6350">
            <a:solidFill>
              <a:srgbClr val="B7A9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3840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098280" y="3840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subnet &gt; relay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66560" y="4343400"/>
            <a:ext cx="4846320" cy="457200"/>
          </a:xfrm>
          <a:prstGeom prst="rect">
            <a:avLst/>
          </a:prstGeom>
          <a:solidFill>
            <a:srgbClr val="F4ECD8"/>
          </a:solidFill>
          <a:ln w="6350">
            <a:solidFill>
              <a:srgbClr val="B7A9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4343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Transport cost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098280" y="4343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BEAM &gt; WebRTC &gt; BLE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66560" y="4846320"/>
            <a:ext cx="4846320" cy="457200"/>
          </a:xfrm>
          <a:prstGeom prst="rect">
            <a:avLst/>
          </a:prstGeom>
          <a:solidFill>
            <a:srgbClr val="EFE6CE"/>
          </a:solidFill>
          <a:ln w="6350">
            <a:solidFill>
              <a:srgbClr val="B7A9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03720" y="4846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 hash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098280" y="4846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signed md5 must match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766560" y="5349240"/>
            <a:ext cx="4846320" cy="457200"/>
          </a:xfrm>
          <a:prstGeom prst="rect">
            <a:avLst/>
          </a:prstGeom>
          <a:solidFill>
            <a:srgbClr val="F4ECD8"/>
          </a:solidFill>
          <a:ln w="6350">
            <a:solidFill>
              <a:srgbClr val="B7A9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03720" y="5349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Politburo override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098280" y="5349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A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[:pinned, node]</a:t>
            </a:r>
            <a:endParaRPr lang="en-US" sz="1100" dirty="0"/>
          </a:p>
        </p:txBody>
      </p:sp>
      <p:sp>
        <p:nvSpPr>
          <p:cNvPr id="910" name="Routing Doctrine"/>
          <p:cNvSpPr txBox="1"/>
          <p:nvPr/>
        </p:nvSpPr>
        <p:spPr>
          <a:xfrm>
            <a:off x="548640" y="6089904"/>
            <a:ext cx="110642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B1E1E"/>
                </a:solidFill>
                <a:latin typeface="Trebuchet MS" pitchFamily="34" charset="0"/>
              </a:rPr>
              <a:t>“From each according to their ability, to each according to their need.”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INTEROPERABILITY  //  THE BEAM IS THE MOTHERLAND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991295" y="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CLASSIFIED // EYES ONLY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191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8368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PEOPLE'S COMPUTE  //  GOATMIRE / NERVESCONF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05695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No. 08 /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NATIVE BEAM  //  NOT JUST AN RPC LIBRARY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1109441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Workers of the world — spawn.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Node.spawn, :rpc.call/cast, monitors, links — they all just work.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377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WORKS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88336"/>
            <a:ext cx="5486400" cy="18288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88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Node.spawn/4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0" y="2788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 an MFA, get a pid back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:rpc.call/4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3154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synchronous, with timeout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:rpc.cast/4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17520" y="3520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 and forget, comrade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886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Process.monitor/1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17520" y="3886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:DOWN messages cross the mesh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251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Process.link/1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17520" y="4251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links survive the relay hop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617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GenServer.call/cast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17520" y="4617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wraps to capability-routed pid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983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selective receive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017520" y="4983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yes, even over WebRTC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23774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CAVEATS — IDEOLOGICAL DEVIATIONS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55080" y="2688336"/>
            <a:ext cx="5303520" cy="18288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2788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Latency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92440" y="2788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 hop = honest 200-400ms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46520" y="3154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Big terms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92440" y="3154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no, you cannot send a 4GB tensor over BLE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46520" y="3520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Cookies/auth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92440" y="3520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replaced with mTLS + node identity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46520" y="3886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Net split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92440" y="3886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:nodedown is normal, not exceptional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46520" y="4251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 trust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092440" y="4251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signed module hash; mismatch = no job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46520" y="4617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dist Erlang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092440" y="4617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tunnel — full TCP not assumed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46520" y="4983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Ordering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092440" y="4983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per-pair FIFO, not global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PERSONNEL FILE  //  COMRADE SCHEDULER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991295" y="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CLASSIFIED // EYES ONLY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191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8368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PEOPLE'S COMPUTE  //  GOATMIRE / NERVESCONF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05695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No. 09 /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COMRADE SCHEDULER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Horde — but make it ideological.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5486400" cy="4297680"/>
          </a:xfrm>
          <a:prstGeom prst="rect">
            <a:avLst/>
          </a:prstGeom>
          <a:solidFill>
            <a:srgbClr val="EFE6CE"/>
          </a:solidFill>
          <a:ln w="19050">
            <a:solidFill>
              <a:srgbClr val="1B191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solidFill>
            <a:srgbClr val="1B191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8288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DOSSIER  //  HORDE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423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Name: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2423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Horde (open source, by GenericJam et al.)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2926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Role: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0" y="2926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Distributed Supervisor + Registry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429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Backbone: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3429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delta-CRDTs over membership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keep: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68880" y="3931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registry semantics, supervisor API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434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patch: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68880" y="4434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 layer (default = libcluster)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4937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Add: strategy: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68880" y="4937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capability-based DistributionStrategy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5440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Add: identity: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68880" y="5440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transport-agnostic node identity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63640" y="1828800"/>
            <a:ext cx="5349240" cy="4297680"/>
          </a:xfrm>
          <a:prstGeom prst="rect">
            <a:avLst/>
          </a:prstGeom>
          <a:solidFill>
            <a:srgbClr val="1B1916"/>
          </a:solidFill>
          <a:ln w="12700">
            <a:solidFill>
              <a:srgbClr val="C8A2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63640" y="1828800"/>
            <a:ext cx="5349240" cy="164592"/>
          </a:xfrm>
          <a:prstGeom prst="rect">
            <a:avLst/>
          </a:prstGeom>
          <a:solidFill>
            <a:srgbClr val="2E2A23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1828800"/>
            <a:ext cx="5166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A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terminal — comrade@people.compute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46520" y="2057400"/>
            <a:ext cx="498348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defmodule PeoplesStrategy 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@behaviour Horde.DistributionStrategy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choose_node(child_spec, members) 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caps = required_capabilities(child_spec)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members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|&gt; Enum.filter(&amp;matches?(&amp;1, caps))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|&gt; Enum.sort_by(&amp;score/1)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|&gt; List.first()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|&gt; case 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nil   -&gt; {:error, :no_comrade}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node  -&gt; {:ok, node}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ENEMIES OF THE PEOPLE  //  THE NAT BOURGEOISIE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991295" y="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CLASSIFIED // EYES ONLY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191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8368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PEOPLE'S COMPUTE  //  GOATMIRE / NERVESCONF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05695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No. 10 /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NAT BOURGEOISIE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 is landlordism for packets. We hole-punch through it.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DISCOVERY — HOW WE FIND COMRADES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231136"/>
            <a:ext cx="11064240" cy="18288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331720"/>
            <a:ext cx="3520440" cy="1143000"/>
          </a:xfrm>
          <a:prstGeom prst="rect">
            <a:avLst/>
          </a:prstGeom>
          <a:solidFill>
            <a:srgbClr val="EFE6CE"/>
          </a:solidFill>
          <a:ln w="12700">
            <a:solidFill>
              <a:srgbClr val="6E66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39572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mDNS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7889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LAN, instant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(zero-config locally)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51960" y="2331720"/>
            <a:ext cx="3520440" cy="1143000"/>
          </a:xfrm>
          <a:prstGeom prst="rect">
            <a:avLst/>
          </a:prstGeom>
          <a:solidFill>
            <a:srgbClr val="EFE6CE"/>
          </a:solidFill>
          <a:ln w="12700">
            <a:solidFill>
              <a:srgbClr val="6E66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239572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DHT / Kademlia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89120" y="27889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wide-area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rendezvous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55280" y="2331720"/>
            <a:ext cx="3520440" cy="1143000"/>
          </a:xfrm>
          <a:prstGeom prst="rect">
            <a:avLst/>
          </a:prstGeom>
          <a:solidFill>
            <a:srgbClr val="EFE6CE"/>
          </a:solidFill>
          <a:ln w="12700">
            <a:solidFill>
              <a:srgbClr val="6E66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2440" y="239572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Gossip + heartbeat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92440" y="27889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membership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 liveness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6576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TRANSPORT — HOW WE TALK ANYWAY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968496"/>
            <a:ext cx="11064240" cy="18288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069080"/>
            <a:ext cx="3520440" cy="1325880"/>
          </a:xfrm>
          <a:prstGeom prst="rect">
            <a:avLst/>
          </a:prstGeom>
          <a:solidFill>
            <a:srgbClr val="1B1916"/>
          </a:solidFill>
          <a:ln w="12700">
            <a:solidFill>
              <a:srgbClr val="C8A2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13308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BEAM dist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452628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you're lucky: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nodes on TCP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51960" y="4069080"/>
            <a:ext cx="3520440" cy="1325880"/>
          </a:xfrm>
          <a:prstGeom prst="rect">
            <a:avLst/>
          </a:prstGeom>
          <a:solidFill>
            <a:srgbClr val="1B1916"/>
          </a:solidFill>
          <a:ln w="12700">
            <a:solidFill>
              <a:srgbClr val="C8A2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0" y="413308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WebRTC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389120" y="452628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STUN + TURN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 traversal,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browser-friendly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955280" y="4069080"/>
            <a:ext cx="3520440" cy="1325880"/>
          </a:xfrm>
          <a:prstGeom prst="rect">
            <a:avLst/>
          </a:prstGeom>
          <a:solidFill>
            <a:srgbClr val="1B1916"/>
          </a:solidFill>
          <a:ln w="12700">
            <a:solidFill>
              <a:srgbClr val="C8A2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92440" y="413308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092440" y="452628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comrade 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basement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C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no wifi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solidFill>
            <a:srgbClr val="EFE6CE"/>
          </a:solidFill>
          <a:ln w="12700">
            <a:solidFill>
              <a:srgbClr val="8B1E1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 example:   BEAM  &lt;-- WebRTC --&gt;  BEAM  &lt;-- BLE --&gt;  BEAM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FIELD EXERCISE  //  THREE COMRADES, ONE FRAME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991295" y="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CLASSIFIED // EYES ONLY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191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8368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PEOPLE'S COMPUTE  //  GOATMIRE / NERVESCONF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05695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No. 11 /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STORYBOARD — FIELD EXERCISE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Nerves devices. One GPU-ish comrade. One sensor. One relay. One frame.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2697480" cy="3383280"/>
          </a:xfrm>
          <a:prstGeom prst="rect">
            <a:avLst/>
          </a:prstGeom>
          <a:solidFill>
            <a:srgbClr val="EFE6CE"/>
          </a:solidFill>
          <a:ln w="12700">
            <a:solidFill>
              <a:srgbClr val="1B191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828800"/>
            <a:ext cx="2697480" cy="502920"/>
          </a:xfrm>
          <a:prstGeom prst="rect">
            <a:avLst/>
          </a:prstGeom>
          <a:solidFill>
            <a:srgbClr val="1B191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8288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18288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BOOT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232" y="2468880"/>
            <a:ext cx="236829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boards power up.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mDNS chatter begins.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Capabilities advertised: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CAM-01 [camera: true]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GPU-04 [gpu: 128]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RELAY-A [relay: true]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0" y="1828800"/>
            <a:ext cx="2697480" cy="3383280"/>
          </a:xfrm>
          <a:prstGeom prst="rect">
            <a:avLst/>
          </a:prstGeom>
          <a:solidFill>
            <a:srgbClr val="EFE6CE"/>
          </a:solidFill>
          <a:ln w="12700">
            <a:solidFill>
              <a:srgbClr val="1B191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1828800"/>
            <a:ext cx="2697480" cy="502920"/>
          </a:xfrm>
          <a:prstGeom prst="rect">
            <a:avLst/>
          </a:prstGeom>
          <a:solidFill>
            <a:srgbClr val="1B1916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18288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023360" y="18288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FRAME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47872" y="2468880"/>
            <a:ext cx="236829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CAM-01 captures a frame.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 Network.spawn(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[gpu: true],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{Vision, :infer,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[frame]})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828800"/>
            <a:ext cx="2697480" cy="3383280"/>
          </a:xfrm>
          <a:prstGeom prst="rect">
            <a:avLst/>
          </a:prstGeom>
          <a:solidFill>
            <a:srgbClr val="EFE6CE"/>
          </a:solidFill>
          <a:ln w="12700">
            <a:solidFill>
              <a:srgbClr val="1B191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1828800"/>
            <a:ext cx="2697480" cy="502920"/>
          </a:xfrm>
          <a:prstGeom prst="rect">
            <a:avLst/>
          </a:prstGeom>
          <a:solidFill>
            <a:srgbClr val="1B1916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8288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58000" y="18288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82512" y="2468880"/>
            <a:ext cx="236829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Ministry of Routing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matches GPU-04.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 path blocked (NAT).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 via RELAY-A: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BLE -&gt; WebRTC.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52560" y="1828800"/>
            <a:ext cx="2697480" cy="3383280"/>
          </a:xfrm>
          <a:prstGeom prst="rect">
            <a:avLst/>
          </a:prstGeom>
          <a:solidFill>
            <a:srgbClr val="EFE6CE"/>
          </a:solidFill>
          <a:ln w="12700">
            <a:solidFill>
              <a:srgbClr val="1B191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52560" y="1828800"/>
            <a:ext cx="2697480" cy="502920"/>
          </a:xfrm>
          <a:prstGeom prst="rect">
            <a:avLst/>
          </a:prstGeom>
          <a:solidFill>
            <a:srgbClr val="1B1916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0" y="18288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692640" y="18288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217152" y="2468880"/>
            <a:ext cx="236829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GPU-04 runs inference.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 {:label, :forklift}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 the same path.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B19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Monitors fire cleanly.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B1E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demo fails live: it is a partition. The revolution continues. We move to slide 14.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19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8368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PEOPLE'S COMPUTE  //  GOATMIRE / NERVESCONF 2025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05695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No. 14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 rot="-120000">
            <a:off x="-914400" y="548640"/>
            <a:ext cx="14020495" cy="1280160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77724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CONFISCATE THE MEANS OF INFERENCE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486400" cy="3291840"/>
          </a:xfrm>
          <a:prstGeom prst="rect">
            <a:avLst/>
          </a:prstGeom>
          <a:solidFill>
            <a:srgbClr val="F4ECD8"/>
          </a:solidFill>
          <a:ln w="25400">
            <a:solidFill>
              <a:srgbClr val="C8A2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945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REMEMBER THIS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521208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One line:  Network.spawn(caps, {M, :f, args})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Capability-routed, not name-routed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OTP semantics ride along (links, monitors)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Sparse mesh + multi-transport (WebRTC, BLE)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Signed code hash: same bytes or no job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The state withers. The GenServer endures.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2103120"/>
            <a:ext cx="5349240" cy="3291840"/>
          </a:xfrm>
          <a:prstGeom prst="rect">
            <a:avLst/>
          </a:prstGeom>
          <a:solidFill>
            <a:srgbClr val="C8A23A"/>
          </a:solidFill>
          <a:ln w="25400">
            <a:solidFill>
              <a:srgbClr val="F4EC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19456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B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ALSO — I STILL NEED A JOB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2697480"/>
            <a:ext cx="51206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communist bit was satire.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distributed-systems work is real.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am Sahil Pohare — I build distributed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Elixir / Nerves / OTP systems for a living,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 I would like to keep doing that.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Looking for: collaborators on Communist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Nerves, contracts, full-time roles.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486400"/>
            <a:ext cx="11064240" cy="685800"/>
          </a:xfrm>
          <a:prstGeom prst="rect">
            <a:avLst/>
          </a:prstGeom>
          <a:solidFill>
            <a:srgbClr val="F4ECD8"/>
          </a:solidFill>
          <a:ln w="12700">
            <a:solidFill>
              <a:srgbClr val="C8A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4864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WORKERS OF THE WORLD — SPAWN.   //   talk repo, slides, &amp; contact:  goatmire / nervesconf 2025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2453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EC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Source: </a:t>
            </a:r>
            <a:pPr algn="ctr" indent="0" marL="0">
              <a:buNone/>
            </a:pPr>
            <a:r>
              <a:rPr lang="en-US" sz="1000" u="sng" dirty="0">
                <a:solidFill>
                  <a:srgbClr val="C8A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Sessionize abstract</a:t>
            </a:r>
            <a:pPr algn="ctr" indent="0" marL="0">
              <a:buNone/>
            </a:pPr>
            <a:r>
              <a:rPr lang="en-US" sz="1000" dirty="0">
                <a:solidFill>
                  <a:srgbClr val="F4EC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·  </a:t>
            </a:r>
            <a:pPr algn="ctr" indent="0" marL="0">
              <a:buNone/>
            </a:pPr>
            <a:r>
              <a:rPr lang="en-US" sz="1000" u="sng" dirty="0">
                <a:solidFill>
                  <a:srgbClr val="C8A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GOATMIRE 2025</a:t>
            </a:r>
            <a:pPr algn="ctr" indent="0" marL="0">
              <a:buNone/>
            </a:pPr>
            <a:r>
              <a:rPr lang="en-US" sz="1000" dirty="0">
                <a:solidFill>
                  <a:srgbClr val="F4EC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·  </a:t>
            </a:r>
            <a:pPr algn="ctr" indent="0" marL="0">
              <a:buNone/>
            </a:pPr>
            <a:r>
              <a:rPr lang="en-US" sz="1000" u="sng" dirty="0">
                <a:solidFill>
                  <a:srgbClr val="C8A2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Alembic blog</a:t>
            </a:r>
            <a:endParaRPr lang="en-US" sz="1000" dirty="0"/>
          </a:p>
        </p:txBody>
      </p:sp>
      <p:sp>
        <p:nvSpPr>
          <p:cNvPr id="902" name="Sponsor Label"/>
          <p:cNvSpPr txBox="1"/>
          <p:nvPr/>
        </p:nvSpPr>
        <p:spPr>
          <a:xfrm>
            <a:off x="548640" y="137160"/>
            <a:ext cx="1371600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500" kern="0" dirty="0">
                <a:solidFill>
                  <a:srgbClr val="C8A23A"/>
                </a:solidFill>
                <a:latin typeface="Arial Black" pitchFamily="34" charset="0"/>
              </a:rPr>
              <a:t>SPONSORED BY</a:t>
            </a:r>
          </a:p>
        </p:txBody>
      </p:sp>
      <p:pic>
        <p:nvPicPr>
          <p:cNvPr id="903" name="Evercam Logo" descr="Evercam"/>
          <p:cNvPicPr>
            <a:picLocks noChangeAspect="1"/>
          </p:cNvPicPr>
          <p:nvPr/>
        </p:nvPicPr>
        <p:blipFill>
          <a:blip r:embed="rIdEvercam"/>
          <a:stretch>
            <a:fillRect/>
          </a:stretch>
        </p:blipFill>
        <p:spPr>
          <a:xfrm>
            <a:off x="2377440" y="109728"/>
            <a:ext cx="1337637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FIELD REPORT 002  //  THE DOCTRINE HAS DEFECTED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991295" y="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CLASSIFIED // EYES ONLY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191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8368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PEOPLE'S COMPUTE  //  GOATMIRE / NERVESCONF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05695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No. 12 /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19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COMRADES, THE AGENTS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WANT IN TOO.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548640" y="2423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E2A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doctrine. No BEAM this time. No central server either.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2788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E2A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Capability discovery, agent to agent, over libp2p and a DHT.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11064240" cy="1508760"/>
          </a:xfrm>
          <a:prstGeom prst="rect">
            <a:avLst/>
          </a:prstGeom>
          <a:solidFill>
            <a:srgbClr val="1B1916"/>
          </a:solidFill>
          <a:ln w="12700">
            <a:solidFill>
              <a:srgbClr val="C8A2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383280"/>
            <a:ext cx="11064240" cy="164592"/>
          </a:xfrm>
          <a:prstGeom prst="rect">
            <a:avLst/>
          </a:prstGeom>
          <a:solidFill>
            <a:srgbClr val="2E2A2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83280"/>
            <a:ext cx="10881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A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sister project — openmolt.network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361188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E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daemon.find(capability: "gpu").delegate(task)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" y="5074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PATTERN. TWO LANGUAGES. ZERO PERMISSION ASKED.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5532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MoltMesh. Same instincts, ported for agents that never learned OTP.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 rot="-480000">
            <a:off x="9174175" y="640080"/>
            <a:ext cx="2651760" cy="777240"/>
          </a:xfrm>
          <a:prstGeom prst="rect">
            <a:avLst/>
          </a:prstGeom>
          <a:ln w="38100">
            <a:solidFill>
              <a:srgbClr val="A5232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-480000">
            <a:off x="9219895" y="685800"/>
            <a:ext cx="2560320" cy="685800"/>
          </a:xfrm>
          <a:prstGeom prst="rect">
            <a:avLst/>
          </a:prstGeom>
          <a:ln w="12700">
            <a:solidFill>
              <a:srgbClr val="A523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 rot="-480000">
            <a:off x="9174175" y="6400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A523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EXPANDED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8B1E1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PERSONNEL FILE  //  WHOAMI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991295" y="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CLASSIFIED // EYES ONLY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191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8368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C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PEOPLE'S COMPUTE  //  GOATMIRE / NERVESCONF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05695" y="6583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No. 13 /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WHOAMI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6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 with a founder story. Built on peanuts, not shortcuts.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5486400" cy="4297680"/>
          </a:xfrm>
          <a:prstGeom prst="rect">
            <a:avLst/>
          </a:prstGeom>
          <a:solidFill>
            <a:srgbClr val="EFE6CE"/>
          </a:solidFill>
          <a:ln w="19050">
            <a:solidFill>
              <a:srgbClr val="1B191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solidFill>
            <a:srgbClr val="1B191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8288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A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DOSSIER  //  S. POHARE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423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Name: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2423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Sahil Pohare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2926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0" y="2926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Senior Product Engineer, Lightwork AI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429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Base: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3429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Dublin, Ireland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Founded: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68880" y="3931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Pingerchips (5 B2B customers), Skyfern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434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68880" y="4434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MoltMesh, a decentralized A2A protocol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4937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Record: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68880" y="4937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AiSentr employee #1, £0 to £500K ARR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5440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E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 file: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68880" y="5440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9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sahilpohare.github.io</a:t>
            </a:r>
            <a:endParaRPr lang="en-US" sz="1200" dirty="0"/>
          </a:p>
        </p:txBody>
      </p:sp>
      <p:grpSp>
        <p:nvGrpSpPr>
          <p:cNvPr id="940" name="Exhibit 940"/>
          <p:cNvGrpSpPr/>
          <p:nvPr/>
        </p:nvGrpSpPr>
        <p:grpSpPr>
          <a:xfrm rot="-120000">
            <a:off x="6400800" y="1783080"/>
            <a:ext cx="4169664" cy="2545080"/>
            <a:chOff x="6400800" y="1783080"/>
            <a:chExt cx="4169664" cy="2545080"/>
          </a:xfrm>
        </p:grpSpPr>
        <p:sp>
          <p:nvSpPr>
            <p:cNvPr id="941" name="Exhibit Frame"/>
            <p:cNvSpPr/>
            <p:nvPr/>
          </p:nvSpPr>
          <p:spPr>
            <a:xfrm>
              <a:off x="6400800" y="1783080"/>
              <a:ext cx="4169664" cy="2545080"/>
            </a:xfrm>
            <a:prstGeom prst="rect">
              <a:avLst/>
            </a:prstGeom>
            <a:solidFill>
              <a:srgbClr val="FBF8F1"/>
            </a:solidFill>
            <a:ln w="9525">
              <a:solidFill>
                <a:srgbClr val="1C1A17"/>
              </a:solidFill>
            </a:ln>
            <a:effectLst>
              <a:outerShdw blurRad="76200" dist="38100" dir="2700000" algn="tl" rotWithShape="0">
                <a:srgbClr val="000000">
                  <a:alpha val="3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943" name="Exhibit Caption"/>
            <p:cNvSpPr txBox="1"/>
            <p:nvPr/>
          </p:nvSpPr>
          <p:spPr>
            <a:xfrm>
              <a:off x="6473952" y="1783080"/>
              <a:ext cx="4023360" cy="292608"/>
            </a:xfrm>
            <a:prstGeom prst="rect">
              <a:avLst/>
            </a:prstGeom>
            <a:noFill/>
          </p:spPr>
          <p:txBody>
            <a:bodyPr wrap="none" lIns="0" tIns="0" rIns="0" bIns="0" anchor="ctr"/>
            <a:lstStyle/>
            <a:p>
              <a:pPr algn="l">
                <a:buNone/>
              </a:pPr>
              <a:r>
                <a:rPr lang="en-US" sz="900" b="1" spc="300" dirty="0">
                  <a:solidFill>
                    <a:srgbClr val="8B1E1E"/>
                  </a:solidFill>
                  <a:latin typeface="Arial Black" pitchFamily="34" charset="0"/>
                </a:rPr>
                <a:t>EXHIBIT A  //  openmolt.network</a:t>
              </a:r>
            </a:p>
          </p:txBody>
        </p:sp>
        <p:pic>
          <p:nvPicPr>
            <p:cNvPr id="942" name="Exhibit Shot" descr="EXHIBIT A  //  openmolt.network"/>
            <p:cNvPicPr>
              <a:picLocks noChangeAspect="1"/>
            </p:cNvPicPr>
            <p:nvPr/>
          </p:nvPicPr>
          <p:blipFill>
            <a:blip r:embed="rIdShotA"/>
            <a:stretch>
              <a:fillRect/>
            </a:stretch>
          </p:blipFill>
          <p:spPr>
            <a:xfrm>
              <a:off x="6473952" y="2075688"/>
              <a:ext cx="4023360" cy="2179320"/>
            </a:xfrm>
            <a:prstGeom prst="rect">
              <a:avLst/>
            </a:prstGeom>
          </p:spPr>
        </p:pic>
      </p:grpSp>
      <p:grpSp>
        <p:nvGrpSpPr>
          <p:cNvPr id="950" name="Exhibit 950"/>
          <p:cNvGrpSpPr/>
          <p:nvPr/>
        </p:nvGrpSpPr>
        <p:grpSpPr>
          <a:xfrm rot="90000">
            <a:off x="7635240" y="3794760"/>
            <a:ext cx="3986784" cy="2446020"/>
            <a:chOff x="7635240" y="3794760"/>
            <a:chExt cx="3986784" cy="2446020"/>
          </a:xfrm>
        </p:grpSpPr>
        <p:sp>
          <p:nvSpPr>
            <p:cNvPr id="951" name="Exhibit Frame"/>
            <p:cNvSpPr/>
            <p:nvPr/>
          </p:nvSpPr>
          <p:spPr>
            <a:xfrm>
              <a:off x="7635240" y="3794760"/>
              <a:ext cx="3986784" cy="2446020"/>
            </a:xfrm>
            <a:prstGeom prst="rect">
              <a:avLst/>
            </a:prstGeom>
            <a:solidFill>
              <a:srgbClr val="FBF8F1"/>
            </a:solidFill>
            <a:ln w="9525">
              <a:solidFill>
                <a:srgbClr val="1C1A17"/>
              </a:solidFill>
            </a:ln>
            <a:effectLst>
              <a:outerShdw blurRad="76200" dist="38100" dir="2700000" algn="tl" rotWithShape="0">
                <a:srgbClr val="000000">
                  <a:alpha val="3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953" name="Exhibit Caption"/>
            <p:cNvSpPr txBox="1"/>
            <p:nvPr/>
          </p:nvSpPr>
          <p:spPr>
            <a:xfrm>
              <a:off x="7708392" y="3794760"/>
              <a:ext cx="3840480" cy="292608"/>
            </a:xfrm>
            <a:prstGeom prst="rect">
              <a:avLst/>
            </a:prstGeom>
            <a:noFill/>
          </p:spPr>
          <p:txBody>
            <a:bodyPr wrap="none" lIns="0" tIns="0" rIns="0" bIns="0" anchor="ctr"/>
            <a:lstStyle/>
            <a:p>
              <a:pPr algn="l">
                <a:buNone/>
              </a:pPr>
              <a:r>
                <a:rPr lang="en-US" sz="900" b="1" spc="300" dirty="0">
                  <a:solidFill>
                    <a:srgbClr val="8B1E1E"/>
                  </a:solidFill>
                  <a:latin typeface="Arial Black" pitchFamily="34" charset="0"/>
                </a:rPr>
                <a:t>EXHIBIT B  //  pingerchips.com</a:t>
              </a:r>
            </a:p>
          </p:txBody>
        </p:sp>
        <p:pic>
          <p:nvPicPr>
            <p:cNvPr id="952" name="Exhibit Shot" descr="EXHIBIT B  //  pingerchips.com"/>
            <p:cNvPicPr>
              <a:picLocks noChangeAspect="1"/>
            </p:cNvPicPr>
            <p:nvPr/>
          </p:nvPicPr>
          <p:blipFill>
            <a:blip r:embed="rIdShotB"/>
            <a:stretch>
              <a:fillRect/>
            </a:stretch>
          </p:blipFill>
          <p:spPr>
            <a:xfrm>
              <a:off x="7708392" y="4087368"/>
              <a:ext cx="3840480" cy="208026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 got Communist Nerves before GTA 6 lol</dc:title>
  <dc:subject>PptxGenJS Presentation</dc:subject>
  <dc:creator>Sahil Pohare (Comrade General)</dc:creator>
  <cp:lastModifiedBy>Sahil Pohare (Comrade General)</cp:lastModifiedBy>
  <cp:revision>1</cp:revision>
  <dcterms:created xsi:type="dcterms:W3CDTF">2026-04-29T14:19:11Z</dcterms:created>
  <dcterms:modified xsi:type="dcterms:W3CDTF">2026-04-29T14:19:11Z</dcterms:modified>
</cp:coreProperties>
</file>